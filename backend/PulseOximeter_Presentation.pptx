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E7C8B">
              <a:alpha val="15000"/>
            </a:srgbClr>
          </a:solidFill>
          <a:ln w="12700">
            <a:solidFill>
              <a:srgbClr val="0E7C8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00C2D4">
              <a:alpha val="10000"/>
            </a:srgbClr>
          </a:solidFill>
          <a:ln w="12700">
            <a:solidFill>
              <a:srgbClr val="00C2D4">
                <a:alpha val="2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8600"/>
            <a:ext cx="1371600" cy="13716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828800" cy="8229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74320" y="1783080"/>
            <a:ext cx="8595360" cy="0"/>
          </a:xfrm>
          <a:prstGeom prst="line">
            <a:avLst/>
          </a:prstGeom>
          <a:noFill/>
          <a:ln w="19050">
            <a:solidFill>
              <a:srgbClr val="0E7C8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19202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Wireless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274320" y="251460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Oximeter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274320" y="32461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Health Monitoring System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274320" y="44805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Engineering  •  Damanhour University  •  Communications &amp; Electronics Dept.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8346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8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01752" y="1344168"/>
            <a:ext cx="329184" cy="329184"/>
          </a:xfrm>
          <a:prstGeom prst="ellipse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325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04088" y="11612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Hossam Rabie Alwani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" y="15636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22170160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051560"/>
            <a:ext cx="28346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8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344168"/>
            <a:ext cx="329184" cy="329184"/>
          </a:xfrm>
          <a:prstGeom prst="ellipse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1325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30168" y="11612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 El-Rahman Sabry Kamel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30168" y="15636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23170153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1051560"/>
            <a:ext cx="28346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8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53912" y="1344168"/>
            <a:ext cx="329184" cy="329184"/>
          </a:xfrm>
          <a:prstGeom prst="ellipse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53912" y="1325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56248" y="11612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Kareem Essam El-Sayed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56248" y="15636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22170191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2221992"/>
            <a:ext cx="28346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8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01752" y="2514600"/>
            <a:ext cx="329184" cy="329184"/>
          </a:xfrm>
          <a:prstGeom prst="ellipse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" y="2496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" y="2331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Ashraf Mohamed Haddad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4088" y="27340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22170193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54680" y="2221992"/>
            <a:ext cx="28346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8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27832" y="2514600"/>
            <a:ext cx="329184" cy="329184"/>
          </a:xfrm>
          <a:prstGeom prst="ellipse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27832" y="2496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30168" y="2331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Khaled Mohamed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30168" y="27340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22170195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0760" y="2221992"/>
            <a:ext cx="28346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8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53912" y="2514600"/>
            <a:ext cx="329184" cy="329184"/>
          </a:xfrm>
          <a:prstGeom prst="ellipse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53912" y="2496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56248" y="2331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Sha'ban El-Gamal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56248" y="27340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22170197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8600" y="3392424"/>
            <a:ext cx="28346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8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01752" y="3685032"/>
            <a:ext cx="329184" cy="329184"/>
          </a:xfrm>
          <a:prstGeom prst="ellipse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" y="36667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4088" y="350215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Kareem El-Sharqawy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4088" y="3904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22170200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154680" y="3392424"/>
            <a:ext cx="28346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8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27832" y="3685032"/>
            <a:ext cx="329184" cy="329184"/>
          </a:xfrm>
          <a:prstGeom prst="ellipse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27832" y="36667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630168" y="350215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Mohamed Ibrahim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630168" y="3904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22170201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080760" y="3392424"/>
            <a:ext cx="28346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8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53912" y="3685032"/>
            <a:ext cx="329184" cy="329184"/>
          </a:xfrm>
          <a:prstGeom prst="ellipse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53912" y="36667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556248" y="350215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Mahmoud Shehata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556248" y="3904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22170202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0"/>
          </a:xfrm>
          <a:prstGeom prst="line">
            <a:avLst/>
          </a:prstGeom>
          <a:noFill/>
          <a:ln w="12700">
            <a:solidFill>
              <a:srgbClr val="0E7C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52144"/>
            <a:ext cx="228600" cy="228600"/>
          </a:xfrm>
          <a:prstGeom prst="rect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972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Problem Statement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09344"/>
            <a:ext cx="228600" cy="228600"/>
          </a:xfrm>
          <a:prstGeom prst="rect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544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Solution Idea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066544"/>
            <a:ext cx="228600" cy="228600"/>
          </a:xfrm>
          <a:prstGeom prst="rect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Electronic Circuit Design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523744"/>
            <a:ext cx="228600" cy="228600"/>
          </a:xfrm>
          <a:prstGeom prst="rect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688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Circuit Simulation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980944"/>
            <a:ext cx="228600" cy="228600"/>
          </a:xfrm>
          <a:prstGeom prst="rect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260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PCB Design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152144"/>
            <a:ext cx="228600" cy="228600"/>
          </a:xfrm>
          <a:prstGeom prst="rect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10972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Components &amp; Budget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609344"/>
            <a:ext cx="228600" cy="228600"/>
          </a:xfrm>
          <a:prstGeom prst="rect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15544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Challenges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2066544"/>
            <a:ext cx="228600" cy="228600"/>
          </a:xfrm>
          <a:prstGeom prst="rect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20116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Project Demo Video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2523744"/>
            <a:ext cx="228600" cy="228600"/>
          </a:xfrm>
          <a:prstGeom prst="rect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24688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Future Work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42062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48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43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Limited Access to Continuous Monitoring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in remote areas or home settings lack access to continuous real-time SpO2 and heart rate monitoring, leading to delayed diagnosis of critical conditions like hypoxemia.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2062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48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143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High Cost of Clinical Equipment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155448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Hospital-grade pulse oximeters are expensive and not portable. There is no affordable, integrated IoT solution that connects patients directly to healthcare providers.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926080"/>
            <a:ext cx="42062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48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30175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No Remote Doctor Visibility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42900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consumer devices display data locally only. Doctors have no real-time access to patient readings, making remote health management practically impossible.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2926080"/>
            <a:ext cx="42062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48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30175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No Role-Based Health Platform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342900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lack structured multi-role platforms (Patient, Doctor, Admin) needed for organized medical monitoring, alerts, and data management.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Idea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0"/>
          </a:xfrm>
          <a:prstGeom prst="line">
            <a:avLst/>
          </a:prstGeom>
          <a:noFill/>
          <a:ln w="12700">
            <a:solidFill>
              <a:srgbClr val="0E7C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1920240" cy="3474720"/>
          </a:xfrm>
          <a:prstGeom prst="rect">
            <a:avLst/>
          </a:prstGeom>
          <a:solidFill>
            <a:srgbClr val="0E7C8B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097280"/>
            <a:ext cx="548640" cy="548640"/>
          </a:xfrm>
          <a:prstGeom prst="ellipse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Device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NodeMCU ESP8266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MAX30102 Sensor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Display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Powered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94560" y="2697480"/>
            <a:ext cx="256032" cy="0"/>
          </a:xfrm>
          <a:prstGeom prst="line">
            <a:avLst/>
          </a:prstGeom>
          <a:noFill/>
          <a:ln w="25400">
            <a:solidFill>
              <a:srgbClr val="F4A2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0592" y="1005840"/>
            <a:ext cx="1920240" cy="3474720"/>
          </a:xfrm>
          <a:prstGeom prst="rect">
            <a:avLst/>
          </a:prstGeom>
          <a:solidFill>
            <a:srgbClr val="0E7C8B">
              <a:alpha val="80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36392" y="1097280"/>
            <a:ext cx="548640" cy="548640"/>
          </a:xfrm>
          <a:prstGeom prst="ellipse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42032" y="17373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Transmission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42032" y="233172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/ Cloud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/ HTTP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Upload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Channel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70832" y="2697480"/>
            <a:ext cx="256032" cy="0"/>
          </a:xfrm>
          <a:prstGeom prst="line">
            <a:avLst/>
          </a:prstGeom>
          <a:noFill/>
          <a:ln w="25400">
            <a:solidFill>
              <a:srgbClr val="F4A2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6864" y="1005840"/>
            <a:ext cx="1920240" cy="3474720"/>
          </a:xfrm>
          <a:prstGeom prst="rect">
            <a:avLst/>
          </a:prstGeom>
          <a:solidFill>
            <a:srgbClr val="0E7C8B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12664" y="1097280"/>
            <a:ext cx="548640" cy="548640"/>
          </a:xfrm>
          <a:prstGeom prst="ellipse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12664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18304" y="17373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Platform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18304" y="233172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System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47104" y="2697480"/>
            <a:ext cx="256032" cy="0"/>
          </a:xfrm>
          <a:prstGeom prst="line">
            <a:avLst/>
          </a:prstGeom>
          <a:noFill/>
          <a:ln w="25400">
            <a:solidFill>
              <a:srgbClr val="F4A2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03136" y="1005840"/>
            <a:ext cx="1920240" cy="3474720"/>
          </a:xfrm>
          <a:prstGeom prst="rect">
            <a:avLst/>
          </a:prstGeom>
          <a:solidFill>
            <a:srgbClr val="0E7C8B">
              <a:alpha val="80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88936" y="1097280"/>
            <a:ext cx="548640" cy="548640"/>
          </a:xfrm>
          <a:prstGeom prst="ellipse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88936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94576" y="17373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94576" y="233172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remote health monitoring: from sensor to doctor screen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Circuit Design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48640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89320" y="1005840"/>
            <a:ext cx="2971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80760" y="109728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080760" y="1508760"/>
            <a:ext cx="2743200" cy="0"/>
          </a:xfrm>
          <a:prstGeom prst="line">
            <a:avLst/>
          </a:prstGeom>
          <a:noFill/>
          <a:ln w="12700">
            <a:solidFill>
              <a:srgbClr val="0E7C8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08192" y="1645920"/>
            <a:ext cx="164592" cy="164592"/>
          </a:xfrm>
          <a:prstGeom prst="ellipse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36792" y="15819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NodeMCU ESP8266 (CH340)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08192" y="2039112"/>
            <a:ext cx="164592" cy="164592"/>
          </a:xfrm>
          <a:prstGeom prst="ellipse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36792" y="197510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MAX30102 SpO2 Sensor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108192" y="2432304"/>
            <a:ext cx="164592" cy="164592"/>
          </a:xfrm>
          <a:prstGeom prst="ellipse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36792" y="236829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SSD1306 OLED 128×32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08192" y="2825496"/>
            <a:ext cx="164592" cy="164592"/>
          </a:xfrm>
          <a:prstGeom prst="ellipse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36792" y="27614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MT3608 Boost Converter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08192" y="3218688"/>
            <a:ext cx="164592" cy="164592"/>
          </a:xfrm>
          <a:prstGeom prst="ellipse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36792" y="31546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TP4056 Charging Module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108192" y="3611880"/>
            <a:ext cx="164592" cy="164592"/>
          </a:xfrm>
          <a:prstGeom prst="ellipse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36792" y="35478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18650 Li-ion Battery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108192" y="4005072"/>
            <a:ext cx="164592" cy="164592"/>
          </a:xfrm>
          <a:prstGeom prst="ellipse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36792" y="394106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2N2222 Transistor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108192" y="4398264"/>
            <a:ext cx="164592" cy="164592"/>
          </a:xfrm>
          <a:prstGeom prst="ellipse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36792" y="433425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 Buzzer (BZ1)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Simulation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solidFill>
            <a:srgbClr val="112233"/>
          </a:solidFill>
          <a:ln w="25400">
            <a:solidFill>
              <a:srgbClr val="0E7C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Simulation Screenshot Here]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Wokwi / Proteus Simulation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validates I2C communication, MAX30102 readings, OLED output, and power stability before PCB fabrication.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Design &amp; Assembly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502920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0" y="1005840"/>
            <a:ext cx="3291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0" y="1005840"/>
            <a:ext cx="73152" cy="868680"/>
          </a:xfrm>
          <a:prstGeom prst="rect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0515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Layout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06440" y="13258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in EasyEDA with optimized component placement for minimal noise and compact form factor.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69280" y="1965960"/>
            <a:ext cx="3291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0" y="1965960"/>
            <a:ext cx="73152" cy="868680"/>
          </a:xfrm>
          <a:prstGeom prst="rect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06440" y="20116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Path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06440" y="22860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TP4056 → MT3608 boost → 5V rail for NodeMCU. Decoupling caps on all IC power pins.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669280" y="2926080"/>
            <a:ext cx="3291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69280" y="2926080"/>
            <a:ext cx="73152" cy="868680"/>
          </a:xfrm>
          <a:prstGeom prst="rect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29718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Bus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06440" y="32461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4.7kΩ pull-ups on SDA/SCL shared between MAX30102 and SSD1306 OLED.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669280" y="3886200"/>
            <a:ext cx="3291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669280" y="3886200"/>
            <a:ext cx="73152" cy="868680"/>
          </a:xfrm>
          <a:prstGeom prst="rect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06440" y="39319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Factor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806440" y="42062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compact 18650 or LiPo battery enclosure with charging indicator.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&amp; Budget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73152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Unit Price (EGP)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(EGP)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6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NodeMCU ESP8266 (CH340)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85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85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0EEF2"/>
                          </a:solidFill>
                        </a:rPr>
                        <a:t>MAX30102 SpO2/HR Sensor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0EEF2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0EEF2"/>
                          </a:solidFill>
                        </a:rPr>
                        <a:t>120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0EEF2"/>
                          </a:solidFill>
                        </a:rPr>
                        <a:t>120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SSD1306 OLED 128×32 I2C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60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60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0EEF2"/>
                          </a:solidFill>
                        </a:rPr>
                        <a:t>MT3608 Boost Converter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0EEF2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0EEF2"/>
                          </a:solidFill>
                        </a:rPr>
                        <a:t>15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0EEF2"/>
                          </a:solidFill>
                        </a:rPr>
                        <a:t>15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TP4056 Charging Module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12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12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0EEF2"/>
                          </a:solidFill>
                        </a:rPr>
                        <a:t>18650 Li-ion Battery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0EEF2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0EEF2"/>
                          </a:solidFill>
                        </a:rPr>
                        <a:t>45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0EEF2"/>
                          </a:solidFill>
                        </a:rPr>
                        <a:t>45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PCB Fabrication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150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150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0EEF2"/>
                          </a:solidFill>
                        </a:rPr>
                        <a:t>Resistors, Capacitors, etc.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0EEF2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0EEF2"/>
                          </a:solidFill>
                        </a:rPr>
                        <a:t>20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0EEF2"/>
                          </a:solidFill>
                        </a:rPr>
                        <a:t>20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Buzzer + Transistor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10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10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0EEF2"/>
                          </a:solidFill>
                        </a:rPr>
                        <a:t>Enclosure / Housing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0EEF2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0EEF2"/>
                          </a:solidFill>
                        </a:rPr>
                        <a:t>40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0EEF2"/>
                          </a:solidFill>
                        </a:rPr>
                        <a:t>40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38"/>
                    </a:solidFill>
                  </a:tcPr>
                </a:tc>
              </a:tr>
              <a:tr h="0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A228"/>
                          </a:solidFill>
                        </a:rPr>
                        <a:t>TOTAL BUDGET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52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A228"/>
                          </a:solidFill>
                        </a:rPr>
                        <a:t>557 EGP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C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5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475488" cy="12344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463040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1247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Bus Conflicts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1453896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MAX30102 and SSD1306 share the I2C bus. Missing pull-up resistors (4.7kΩ on SDA/SCL) caused both devices to be unresponsive on first PCB bring-up.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51560"/>
            <a:ext cx="475488" cy="12344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463040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12080" y="11247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Rail Instability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212080" y="1453896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MT3608 boost converter output had high ripple without adequate decoupling caps, causing the NodeMCU to reset unexpectedly during sensor reads.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3774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377440"/>
            <a:ext cx="475488" cy="12344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788920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24505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SpO2 Accuracy Calibration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2779776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MAX30102 AC/DC ratio algorithm required fine-tuning of the R-value lookup table to achieve readings within ±2% of clinical reference devices.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3774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377440"/>
            <a:ext cx="475488" cy="12344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788920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0" y="24505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Connectivity in Low Signal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12080" y="2779776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 struggled to maintain stable MQTT connection in weak WiFi environments. Added reconnection logic and exponential backoff.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370332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703320"/>
            <a:ext cx="475488" cy="12344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4114800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3776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Routing &amp; Noise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77240" y="4105656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sensor traces near switching power supply traces introduced noise. Resolved by proper ground plane partitioning and shorter trace lengths.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70332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703320"/>
            <a:ext cx="475488" cy="12344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4114800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12080" y="3776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Life Optimization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212080" y="4105656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WiFi transmission drained the 18650 in ~3 hours. Implemented deep sleep intervals and buffered data uploads to extend battery life.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1005840"/>
            <a:ext cx="6400800" cy="3566160"/>
          </a:xfrm>
          <a:prstGeom prst="rect">
            <a:avLst/>
          </a:prstGeom>
          <a:solidFill>
            <a:srgbClr val="0A1A28"/>
          </a:solidFill>
          <a:ln w="25400">
            <a:solidFill>
              <a:srgbClr val="0E7C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2011680"/>
            <a:ext cx="1097280" cy="1097280"/>
          </a:xfrm>
          <a:prstGeom prst="ellipse">
            <a:avLst/>
          </a:prstGeom>
          <a:solidFill>
            <a:srgbClr val="0E7C8B"/>
          </a:solidFill>
          <a:ln w="25400">
            <a:solidFill>
              <a:srgbClr val="00C2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0" y="20116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3246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Video Here 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Duration: ≤ 1 minute  •  Shows live SpO2 &amp; BPM readings transmitted to web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2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38328" y="1143000"/>
            <a:ext cx="2578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AI-Powered Health Alerts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" y="1600200"/>
            <a:ext cx="25786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 machine learning model to detect anomalies in SpO2/BPM trends and issue predictive health alerts before critical thresholds are reached.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72968" y="105156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2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82696" y="1143000"/>
            <a:ext cx="2578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Application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82696" y="1600200"/>
            <a:ext cx="25786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cross-platform mobile app (React Native) for patients and doctors to receive push notifications and view historical health trends on the go.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17336" y="105156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2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27064" y="1143000"/>
            <a:ext cx="2578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Multi-Sensor Expansion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27064" y="1600200"/>
            <a:ext cx="25786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ECG, temperature, and blood pressure sensors to evolve the device into a comprehensive multi-parameter portable health monitor.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297180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2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8328" y="3063240"/>
            <a:ext cx="2578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Cloud &amp; Telemedicine Integration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" y="3520440"/>
            <a:ext cx="25786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platform to telemedicine services and EHR systems (e.g., HL7 FHIR) enabling seamless data exchange with hospitals and clinics.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72968" y="297180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2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82696" y="3063240"/>
            <a:ext cx="2578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🔋  Advanced Power Management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82696" y="3520440"/>
            <a:ext cx="25786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adaptive deep sleep and solar charging options to extend battery life to 48+ hours for continuous patient monitoring.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17336" y="297180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2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27064" y="3063240"/>
            <a:ext cx="2578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3D-Printed Enclosure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27064" y="3520440"/>
            <a:ext cx="25786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fabricate a compact medical-grade 3D-printed enclosure with ergonomic finger clip and USB-C charging port.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E7C8B">
              <a:alpha val="12000"/>
            </a:srgbClr>
          </a:solidFill>
          <a:ln w="12700">
            <a:solidFill>
              <a:srgbClr val="0E7C8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0C2D4">
              <a:alpha val="10000"/>
            </a:srgbClr>
          </a:solidFill>
          <a:ln w="12700">
            <a:solidFill>
              <a:srgbClr val="00C2D4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1188720" cy="11887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"/>
            <a:ext cx="1737360" cy="777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146304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8" name="Shape 4"/>
          <p:cNvSpPr/>
          <p:nvPr/>
        </p:nvSpPr>
        <p:spPr>
          <a:xfrm>
            <a:off x="2286000" y="2743200"/>
            <a:ext cx="4572000" cy="0"/>
          </a:xfrm>
          <a:prstGeom prst="line">
            <a:avLst/>
          </a:prstGeom>
          <a:noFill/>
          <a:ln w="25400">
            <a:solidFill>
              <a:srgbClr val="0E7C8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74320" y="28803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Wireless Pulse Oximeter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274320" y="3474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Engineering  •  Damanhour University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74320" y="40233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Portable Wireless Pulse Oximeter</dc:title>
  <dc:subject>PptxGenJS Presentation</dc:subject>
  <dc:creator>PptxGenJS</dc:creator>
  <cp:lastModifiedBy>PptxGenJS</cp:lastModifiedBy>
  <cp:revision>1</cp:revision>
  <dcterms:created xsi:type="dcterms:W3CDTF">2026-05-06T08:35:47Z</dcterms:created>
  <dcterms:modified xsi:type="dcterms:W3CDTF">2026-05-06T08:35:47Z</dcterms:modified>
</cp:coreProperties>
</file>